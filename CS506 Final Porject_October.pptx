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2C4A5EE-F6EB-4326-BD7F-E9A6B8B7439A}">
  <a:tblStyle styleId="{42C4A5EE-F6EB-4326-BD7F-E9A6B8B7439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8"/>
  </p:normalViewPr>
  <p:slideViewPr>
    <p:cSldViewPr snapToGrid="0">
      <p:cViewPr varScale="1">
        <p:scale>
          <a:sx n="149" d="100"/>
          <a:sy n="149" d="100"/>
        </p:scale>
        <p:origin x="752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68" name="Google Shape;6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h186cf0a246aa2d6e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h186cf0a246aa2d6e_1_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h186cf0a246aa2d6e_1_3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h186cf0a246aa2d6e_1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h186cf0a246aa2d6e_1_7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h186cf0a246aa2d6e_1_78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h186cf0a246aa2d6e_1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h186cf0a246aa2d6e_1_6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h186cf0a246aa2d6e_1_68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h186cf0a246aa2d6e_1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h186cf0a246aa2d6e_1_9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h186cf0a246aa2d6e_1_92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h186cf0a246aa2d6e_1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h186cf0a246aa2d6e_1_10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1B2430"/>
                </a:solidFill>
              </a:rPr>
              <a:t>MRI shows the classic AD atrophy pattern</a:t>
            </a:r>
            <a:r>
              <a:rPr lang="en-US" sz="1100"/>
              <a:t> </a:t>
            </a:r>
            <a:endParaRPr/>
          </a:p>
        </p:txBody>
      </p:sp>
      <p:sp>
        <p:nvSpPr>
          <p:cNvPr id="109" name="Google Shape;109;h186cf0a246aa2d6e_1_10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h186cf0a246aa2d6e_1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h186cf0a246aa2d6e_1_1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h186cf0a246aa2d6e_1_11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186cf0a246aa2d6e_1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186cf0a246aa2d6e_1_1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h186cf0a246aa2d6e_1_119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186cf0a246aa2d6e_1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h186cf0a246aa2d6e_1_1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h186cf0a246aa2d6e_1_125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h186cf0a246aa2d6e_1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h186cf0a246aa2d6e_1_15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h186cf0a246aa2d6e_1_15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h186cf0a246aa2d6e_1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h186cf0a246aa2d6e_1_15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h186cf0a246aa2d6e_1_156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h186cf0a246aa2d6e_1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h186cf0a246aa2d6e_1_17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h186cf0a246aa2d6e_1_172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0" y="17463"/>
            <a:ext cx="9144000" cy="2171700"/>
          </a:xfrm>
          <a:prstGeom prst="rect">
            <a:avLst/>
          </a:prstGeom>
          <a:gradFill>
            <a:gsLst>
              <a:gs pos="0">
                <a:srgbClr val="333333"/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609600" y="2724150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610496" y="1217613"/>
            <a:ext cx="685800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628650" y="361950"/>
            <a:ext cx="7886700" cy="841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628650" y="1352550"/>
            <a:ext cx="7886700" cy="26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7924800" y="58738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8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/>
        </p:nvSpPr>
        <p:spPr>
          <a:xfrm>
            <a:off x="555625" y="26988"/>
            <a:ext cx="5105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Trustees Presentation</a:t>
            </a:r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623888" y="1047750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623888" y="3187303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dt" idx="10"/>
          </p:nvPr>
        </p:nvSpPr>
        <p:spPr>
          <a:xfrm>
            <a:off x="7924800" y="58738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8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/>
        </p:nvSpPr>
        <p:spPr>
          <a:xfrm>
            <a:off x="555625" y="26988"/>
            <a:ext cx="5105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Trustees Presentation</a:t>
            </a:r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628650" y="666750"/>
            <a:ext cx="7886700" cy="53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2726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2726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7924800" y="58738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8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/>
        </p:nvSpPr>
        <p:spPr>
          <a:xfrm>
            <a:off x="555625" y="26988"/>
            <a:ext cx="5105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Trustees Presentation</a:t>
            </a:r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629841" y="147520"/>
            <a:ext cx="7886700" cy="887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293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4"/>
          </p:nvPr>
        </p:nvSpPr>
        <p:spPr>
          <a:xfrm>
            <a:off x="4629150" y="1878807"/>
            <a:ext cx="3887391" cy="2293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7924800" y="58738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8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/>
        </p:nvSpPr>
        <p:spPr>
          <a:xfrm>
            <a:off x="555625" y="26988"/>
            <a:ext cx="5105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Trustees Presentation</a:t>
            </a:r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555625" y="666750"/>
            <a:ext cx="788670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dt" idx="10"/>
          </p:nvPr>
        </p:nvSpPr>
        <p:spPr>
          <a:xfrm>
            <a:off x="7924800" y="58738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8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/>
        </p:nvSpPr>
        <p:spPr>
          <a:xfrm>
            <a:off x="555625" y="26988"/>
            <a:ext cx="5105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Trustees Presentation</a:t>
            </a:r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dt" idx="10"/>
          </p:nvPr>
        </p:nvSpPr>
        <p:spPr>
          <a:xfrm>
            <a:off x="7924800" y="58738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8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/>
        </p:nvSpPr>
        <p:spPr>
          <a:xfrm>
            <a:off x="555625" y="26988"/>
            <a:ext cx="5105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Trustees Presentation</a:t>
            </a:r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623979" y="590550"/>
            <a:ext cx="2949178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3887391" y="892969"/>
            <a:ext cx="4629150" cy="3278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▪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2100"/>
              <a:buChar char="▪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Char char="▪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Char char="▪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629841" y="1695451"/>
            <a:ext cx="2949178" cy="2476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7924800" y="58738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8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/>
        </p:nvSpPr>
        <p:spPr>
          <a:xfrm>
            <a:off x="555625" y="26988"/>
            <a:ext cx="5105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Trustees Presentation</a:t>
            </a:r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title"/>
          </p:nvPr>
        </p:nvSpPr>
        <p:spPr>
          <a:xfrm>
            <a:off x="629841" y="438150"/>
            <a:ext cx="2949178" cy="1066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0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278981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0"/>
          <p:cNvSpPr txBox="1">
            <a:spLocks noGrp="1"/>
          </p:cNvSpPr>
          <p:nvPr>
            <p:ph type="body" idx="1"/>
          </p:nvPr>
        </p:nvSpPr>
        <p:spPr>
          <a:xfrm>
            <a:off x="629841" y="1543051"/>
            <a:ext cx="2949178" cy="24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dt" idx="10"/>
          </p:nvPr>
        </p:nvSpPr>
        <p:spPr>
          <a:xfrm>
            <a:off x="7924800" y="58738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8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/>
        </p:nvSpPr>
        <p:spPr>
          <a:xfrm>
            <a:off x="555625" y="26988"/>
            <a:ext cx="5105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Trustees Presentation</a:t>
            </a:r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body" idx="1"/>
          </p:nvPr>
        </p:nvSpPr>
        <p:spPr>
          <a:xfrm>
            <a:off x="609600" y="666750"/>
            <a:ext cx="5727247" cy="3429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title"/>
          </p:nvPr>
        </p:nvSpPr>
        <p:spPr>
          <a:xfrm>
            <a:off x="6477000" y="666750"/>
            <a:ext cx="2514600" cy="3429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7924800" y="58738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8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28650" y="666750"/>
            <a:ext cx="7886700" cy="993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28650" y="1762125"/>
            <a:ext cx="7886700" cy="218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Noto Sans Symbols"/>
              <a:buChar char="▪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11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Noto Sans Symbols"/>
              <a:buChar char="▪"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11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Noto Sans Symbols"/>
              <a:buChar char="▪"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1588" y="-4763"/>
            <a:ext cx="9144000" cy="368301"/>
          </a:xfrm>
          <a:prstGeom prst="rect">
            <a:avLst/>
          </a:prstGeom>
          <a:gradFill>
            <a:gsLst>
              <a:gs pos="0">
                <a:srgbClr val="333333"/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555625" y="4433888"/>
            <a:ext cx="46640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Boston University</a:t>
            </a:r>
            <a:endParaRPr sz="9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</a:endParaRPr>
          </a:p>
        </p:txBody>
      </p:sp>
      <p:pic>
        <p:nvPicPr>
          <p:cNvPr id="14" name="Google Shape;14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600950" y="4341813"/>
            <a:ext cx="914400" cy="4111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ctrTitle"/>
          </p:nvPr>
        </p:nvSpPr>
        <p:spPr>
          <a:xfrm>
            <a:off x="609600" y="971550"/>
            <a:ext cx="6858000" cy="1292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CROSS-AD: Two-Channel EEG-MRI Learning for Explainable Alzheimer’s Disease Prediction</a:t>
            </a:r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subTitle" idx="1"/>
          </p:nvPr>
        </p:nvSpPr>
        <p:spPr>
          <a:xfrm>
            <a:off x="620713" y="2647950"/>
            <a:ext cx="6858000" cy="124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CS 506 Final Project October Check-In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/>
              <a:t>Aoming Liu, PhD Candidate in Computer Science </a:t>
            </a:r>
            <a:endParaRPr sz="16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/>
              <a:t>Runkun Guo, PhD Candidate in Bioinformatics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>
            <a:spLocks noGrp="1"/>
          </p:cNvSpPr>
          <p:nvPr>
            <p:ph type="title"/>
          </p:nvPr>
        </p:nvSpPr>
        <p:spPr>
          <a:xfrm>
            <a:off x="628650" y="526500"/>
            <a:ext cx="7886700" cy="841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Why Early Prediction of Alzheimer’s Disease Matters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3"/>
          <p:cNvSpPr txBox="1"/>
          <p:nvPr/>
        </p:nvSpPr>
        <p:spPr>
          <a:xfrm>
            <a:off x="756250" y="1098000"/>
            <a:ext cx="7215000" cy="29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b="1">
                <a:solidFill>
                  <a:schemeClr val="dk1"/>
                </a:solidFill>
              </a:rPr>
              <a:t>Why Early Prediction of Alzheimer’s Disease Matters</a:t>
            </a:r>
            <a:endParaRPr sz="17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Alzheimer’s disease is a progressive neurodegenerative disorder.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Structural, functional and molecular abnormalities can occur before severe cognitive symptoms.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Early prediction may support: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</a:rPr>
              <a:t>earlier intervention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</a:rPr>
              <a:t>improved patient stratification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</a:rPr>
              <a:t>monitoring of disease progression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Current molecular biomarkers remain incomplete when used independently (Preciously on CROSS_CIRC Guo et al., ICLR 2027).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US" sz="1100" b="1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→ Can we jointly model brain structural degeneration and functional dysfunction for improved AD prediction?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555625" y="26988"/>
            <a:ext cx="5105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</a:rPr>
              <a:t>CROSS-AD</a:t>
            </a:r>
            <a:endParaRPr sz="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>
            <a:spLocks noGrp="1"/>
          </p:cNvSpPr>
          <p:nvPr>
            <p:ph type="title"/>
          </p:nvPr>
        </p:nvSpPr>
        <p:spPr>
          <a:xfrm>
            <a:off x="628650" y="361950"/>
            <a:ext cx="7886700" cy="841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Views of AD</a:t>
            </a:r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body" idx="1"/>
          </p:nvPr>
        </p:nvSpPr>
        <p:spPr>
          <a:xfrm>
            <a:off x="628650" y="1352550"/>
            <a:ext cx="7886700" cy="266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spcBef>
                <a:spcPts val="75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MRI → Structural degeneration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 sz="1600">
                <a:solidFill>
                  <a:srgbClr val="1B2430"/>
                </a:solidFill>
              </a:rPr>
              <a:t>Measures brain shape: the hippocampus shrinks and the ventricles grow in Alzheimer’s disease (AD)</a:t>
            </a:r>
            <a:endParaRPr sz="1600">
              <a:solidFill>
                <a:srgbClr val="1B243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EEG → Functional dysfunction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 sz="1600">
                <a:solidFill>
                  <a:srgbClr val="1B2430"/>
                </a:solidFill>
              </a:rPr>
              <a:t>Measures brain activity: rhythms slow down, with more theta and less alpha power</a:t>
            </a:r>
            <a:endParaRPr sz="1600">
              <a:solidFill>
                <a:srgbClr val="1B2430"/>
              </a:solidFill>
            </a:endParaRPr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 sz="1600">
              <a:solidFill>
                <a:srgbClr val="1B2430"/>
              </a:solidFill>
            </a:endParaRPr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B2430"/>
                </a:solidFill>
              </a:rPr>
              <a:t>Goal: Predict AD vs cognitively normal (CN) from each channel, then test whether combining them helps, but only on people who have both scans.</a:t>
            </a:r>
            <a:r>
              <a:rPr lang="en-US" sz="1100"/>
              <a:t> </a:t>
            </a:r>
            <a:endParaRPr sz="1600">
              <a:solidFill>
                <a:srgbClr val="1B2430"/>
              </a:solidFill>
            </a:endParaRPr>
          </a:p>
          <a:p>
            <a:pPr marL="91440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4"/>
          <p:cNvSpPr txBox="1"/>
          <p:nvPr/>
        </p:nvSpPr>
        <p:spPr>
          <a:xfrm>
            <a:off x="555625" y="26988"/>
            <a:ext cx="5105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</a:rPr>
              <a:t>CROSS-AD</a:t>
            </a:r>
            <a:endParaRPr sz="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>
            <a:spLocks noGrp="1"/>
          </p:cNvSpPr>
          <p:nvPr>
            <p:ph type="title"/>
          </p:nvPr>
        </p:nvSpPr>
        <p:spPr>
          <a:xfrm>
            <a:off x="628650" y="361950"/>
            <a:ext cx="7886700" cy="841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Where are we now?</a:t>
            </a:r>
            <a:endParaRPr/>
          </a:p>
        </p:txBody>
      </p:sp>
      <p:sp>
        <p:nvSpPr>
          <p:cNvPr id="95" name="Google Shape;95;p15"/>
          <p:cNvSpPr txBox="1"/>
          <p:nvPr/>
        </p:nvSpPr>
        <p:spPr>
          <a:xfrm>
            <a:off x="555625" y="26988"/>
            <a:ext cx="5105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</a:rPr>
              <a:t>CROSS-AD</a:t>
            </a:r>
            <a:endParaRPr sz="600"/>
          </a:p>
        </p:txBody>
      </p:sp>
      <p:graphicFrame>
        <p:nvGraphicFramePr>
          <p:cNvPr id="96" name="Google Shape;96;p15"/>
          <p:cNvGraphicFramePr/>
          <p:nvPr/>
        </p:nvGraphicFramePr>
        <p:xfrm>
          <a:off x="1062288" y="1172925"/>
          <a:ext cx="7019425" cy="2870900"/>
        </p:xfrm>
        <a:graphic>
          <a:graphicData uri="http://schemas.openxmlformats.org/drawingml/2006/table">
            <a:tbl>
              <a:tblPr>
                <a:noFill/>
                <a:tableStyleId>{42C4A5EE-F6EB-4326-BD7F-E9A6B8B7439A}</a:tableStyleId>
              </a:tblPr>
              <a:tblGrid>
                <a:gridCol w="18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1B2430"/>
                          </a:solidFill>
                        </a:rPr>
                        <a:t>Stage</a:t>
                      </a:r>
                      <a:endParaRPr sz="800" b="1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CB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B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1B2430"/>
                          </a:solidFill>
                        </a:rPr>
                        <a:t>Status</a:t>
                      </a:r>
                      <a:endParaRPr sz="800" b="1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CB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CB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B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1B2430"/>
                          </a:solidFill>
                        </a:rPr>
                        <a:t>What we did</a:t>
                      </a:r>
                      <a:endParaRPr sz="800" b="1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CB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CB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B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6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1B2430"/>
                          </a:solidFill>
                        </a:rPr>
                        <a:t>Data collection</a:t>
                      </a:r>
                      <a:endParaRPr sz="8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CB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1B2430"/>
                          </a:solidFill>
                        </a:rPr>
                        <a:t>Done</a:t>
                      </a:r>
                      <a:endParaRPr sz="8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CB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1B2430"/>
                          </a:solidFill>
                        </a:rPr>
                        <a:t>ADNI MRI regional measures, Synapse BrainLat EEG (8 GB) and OpenNeuro ds004504 resting-state EEG (2.2 GB) on the SCC</a:t>
                      </a:r>
                      <a:endParaRPr sz="8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CB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1B2430"/>
                          </a:solidFill>
                        </a:rPr>
                        <a:t>Data cleaning</a:t>
                      </a:r>
                      <a:endParaRPr sz="8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1B2430"/>
                          </a:solidFill>
                        </a:rPr>
                        <a:t>Done</a:t>
                      </a:r>
                      <a:endParaRPr sz="8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1B2430"/>
                          </a:solidFill>
                        </a:rPr>
                        <a:t>QC, one scan per person, 3T, age/sex matching, EEG file audit</a:t>
                      </a:r>
                      <a:endParaRPr sz="8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1B2430"/>
                          </a:solidFill>
                        </a:rPr>
                        <a:t>Feature extraction</a:t>
                      </a:r>
                      <a:endParaRPr sz="8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1B2430"/>
                          </a:solidFill>
                        </a:rPr>
                        <a:t>Done</a:t>
                      </a:r>
                      <a:endParaRPr sz="8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1B2430"/>
                          </a:solidFill>
                        </a:rPr>
                        <a:t>321 MRI regional measures; 26 EEG spectral features</a:t>
                      </a:r>
                      <a:endParaRPr sz="8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1B2430"/>
                          </a:solidFill>
                        </a:rPr>
                        <a:t>Visualization</a:t>
                      </a:r>
                      <a:endParaRPr sz="8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1B2430"/>
                          </a:solidFill>
                        </a:rPr>
                        <a:t>Done</a:t>
                      </a:r>
                      <a:endParaRPr sz="8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1B2430"/>
                          </a:solidFill>
                        </a:rPr>
                        <a:t>Data report with 8 figures; results report</a:t>
                      </a:r>
                      <a:endParaRPr sz="8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1B2430"/>
                          </a:solidFill>
                        </a:rPr>
                        <a:t>Model training (fundemental)</a:t>
                      </a:r>
                      <a:endParaRPr sz="8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1B2430"/>
                          </a:solidFill>
                        </a:rPr>
                        <a:t>Done</a:t>
                      </a:r>
                      <a:endParaRPr sz="8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1B2430"/>
                          </a:solidFill>
                        </a:rPr>
                        <a:t>Baselines plus a first joint EEG–MRI model with ablations</a:t>
                      </a:r>
                      <a:endParaRPr sz="8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1B2430"/>
                          </a:solidFill>
                        </a:rPr>
                        <a:t>Paired fusion</a:t>
                      </a:r>
                      <a:endParaRPr sz="8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1B2430"/>
                          </a:solidFill>
                        </a:rPr>
                        <a:t>Waiting</a:t>
                      </a:r>
                      <a:endParaRPr sz="8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1B2430"/>
                          </a:solidFill>
                        </a:rPr>
                        <a:t>Needs BrainLat MRI download access</a:t>
                      </a:r>
                      <a:endParaRPr sz="8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628650" y="361950"/>
            <a:ext cx="7886700" cy="841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Overview</a:t>
            </a:r>
            <a:endParaRPr/>
          </a:p>
        </p:txBody>
      </p:sp>
      <p:pic>
        <p:nvPicPr>
          <p:cNvPr id="103" name="Google Shape;103;p16" title="Screenshot 2026-10-22 at 10.51.2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9325" y="1396188"/>
            <a:ext cx="7425351" cy="137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6" title="Screenshot 2026-10-22 at 10.52.1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7150" y="2813250"/>
            <a:ext cx="3609698" cy="1653274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/>
          <p:cNvSpPr txBox="1"/>
          <p:nvPr/>
        </p:nvSpPr>
        <p:spPr>
          <a:xfrm>
            <a:off x="555625" y="26988"/>
            <a:ext cx="5105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</a:rPr>
              <a:t>CROSS-AD</a:t>
            </a:r>
            <a:endParaRPr sz="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>
            <a:spLocks noGrp="1"/>
          </p:cNvSpPr>
          <p:nvPr>
            <p:ph type="title"/>
          </p:nvPr>
        </p:nvSpPr>
        <p:spPr>
          <a:xfrm>
            <a:off x="628650" y="361950"/>
            <a:ext cx="7886700" cy="841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MRI: ADNI Structural Measures</a:t>
            </a:r>
            <a:endParaRPr/>
          </a:p>
        </p:txBody>
      </p:sp>
      <p:sp>
        <p:nvSpPr>
          <p:cNvPr id="112" name="Google Shape;112;p17"/>
          <p:cNvSpPr txBox="1"/>
          <p:nvPr/>
        </p:nvSpPr>
        <p:spPr>
          <a:xfrm>
            <a:off x="555625" y="26988"/>
            <a:ext cx="5105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</a:rPr>
              <a:t>CROSS-AD</a:t>
            </a:r>
            <a:endParaRPr sz="600"/>
          </a:p>
        </p:txBody>
      </p:sp>
      <p:pic>
        <p:nvPicPr>
          <p:cNvPr id="113" name="Google Shape;113;p17" title="Screenshot 2026-10-22 at 10.58.5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1233600"/>
            <a:ext cx="4036500" cy="216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7" title="Screenshot 2026-10-22 at 10.59.3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6649" y="1164150"/>
            <a:ext cx="3808552" cy="2031626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7"/>
          <p:cNvSpPr txBox="1"/>
          <p:nvPr/>
        </p:nvSpPr>
        <p:spPr>
          <a:xfrm>
            <a:off x="758475" y="3396350"/>
            <a:ext cx="74022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21090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dk1"/>
                </a:solidFill>
              </a:rPr>
              <a:t>•</a:t>
            </a:r>
            <a:r>
              <a:rPr lang="en-US" sz="900">
                <a:solidFill>
                  <a:srgbClr val="1B2430"/>
                </a:solidFill>
              </a:rPr>
              <a:t>Dropped failed quality checks; blanked brain regions that failed region-level QC</a:t>
            </a:r>
            <a:endParaRPr sz="900">
              <a:solidFill>
                <a:srgbClr val="1B2430"/>
              </a:solidFill>
            </a:endParaRPr>
          </a:p>
          <a:p>
            <a:pPr marL="0" lvl="0" indent="0" algn="l" rtl="0">
              <a:lnSpc>
                <a:spcPct val="21090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dk1"/>
                </a:solidFill>
              </a:rPr>
              <a:t>•</a:t>
            </a:r>
            <a:r>
              <a:rPr lang="en-US" sz="900">
                <a:solidFill>
                  <a:srgbClr val="1B2430"/>
                </a:solidFill>
              </a:rPr>
              <a:t>One scan per person, so no one appears in both training and test data</a:t>
            </a:r>
            <a:endParaRPr sz="900">
              <a:solidFill>
                <a:srgbClr val="1B2430"/>
              </a:solidFill>
            </a:endParaRPr>
          </a:p>
          <a:p>
            <a:pPr marL="0" lvl="0" indent="0" algn="l" rtl="0">
              <a:lnSpc>
                <a:spcPct val="21090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dk1"/>
                </a:solidFill>
              </a:rPr>
              <a:t>•</a:t>
            </a:r>
            <a:r>
              <a:rPr lang="en-US" sz="900">
                <a:solidFill>
                  <a:srgbClr val="1B2430"/>
                </a:solidFill>
              </a:rPr>
              <a:t>Diagnosis from the clinic visit closest to the scan (median gap: 10 days)</a:t>
            </a:r>
            <a:endParaRPr sz="900">
              <a:solidFill>
                <a:srgbClr val="1B243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>
            <a:spLocks noGrp="1"/>
          </p:cNvSpPr>
          <p:nvPr>
            <p:ph type="title"/>
          </p:nvPr>
        </p:nvSpPr>
        <p:spPr>
          <a:xfrm>
            <a:off x="628650" y="361950"/>
            <a:ext cx="7886700" cy="841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EEG: BrainLat and OpenNeuro </a:t>
            </a:r>
            <a:endParaRPr/>
          </a:p>
        </p:txBody>
      </p:sp>
      <p:pic>
        <p:nvPicPr>
          <p:cNvPr id="122" name="Google Shape;122;p18" title="Screenshot 2026-10-22 at 11.03.2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1203450"/>
            <a:ext cx="4322901" cy="250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8" title="Screenshot 2026-10-22 at 11.03.4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1550" y="1168863"/>
            <a:ext cx="3687798" cy="256934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8"/>
          <p:cNvSpPr txBox="1"/>
          <p:nvPr/>
        </p:nvSpPr>
        <p:spPr>
          <a:xfrm>
            <a:off x="555625" y="26988"/>
            <a:ext cx="5105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</a:rPr>
              <a:t>CROSS-AD</a:t>
            </a:r>
            <a:endParaRPr sz="600"/>
          </a:p>
        </p:txBody>
      </p:sp>
      <p:sp>
        <p:nvSpPr>
          <p:cNvPr id="125" name="Google Shape;125;p18"/>
          <p:cNvSpPr txBox="1"/>
          <p:nvPr/>
        </p:nvSpPr>
        <p:spPr>
          <a:xfrm>
            <a:off x="778875" y="3889375"/>
            <a:ext cx="78135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B2430"/>
                </a:solidFill>
              </a:rPr>
              <a:t>Every BrainLat AD file is a rest-plus-heartbeat (rs-HEP) recording, every control a plain rest file, so recording type equals diagnosis.</a:t>
            </a:r>
            <a:r>
              <a:rPr lang="en-US" sz="700">
                <a:solidFill>
                  <a:schemeClr val="dk1"/>
                </a:solidFill>
              </a:rPr>
              <a:t> 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>
            <a:spLocks noGrp="1"/>
          </p:cNvSpPr>
          <p:nvPr>
            <p:ph type="title"/>
          </p:nvPr>
        </p:nvSpPr>
        <p:spPr>
          <a:xfrm>
            <a:off x="628650" y="361950"/>
            <a:ext cx="7886700" cy="841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Features, Models, and Evaluation</a:t>
            </a:r>
            <a:endParaRPr/>
          </a:p>
        </p:txBody>
      </p:sp>
      <p:sp>
        <p:nvSpPr>
          <p:cNvPr id="132" name="Google Shape;132;p19"/>
          <p:cNvSpPr txBox="1">
            <a:spLocks noGrp="1"/>
          </p:cNvSpPr>
          <p:nvPr>
            <p:ph type="body" idx="1"/>
          </p:nvPr>
        </p:nvSpPr>
        <p:spPr>
          <a:xfrm>
            <a:off x="628650" y="1025125"/>
            <a:ext cx="4515000" cy="266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1150" algn="l" rtl="0">
              <a:spcBef>
                <a:spcPts val="750"/>
              </a:spcBef>
              <a:spcAft>
                <a:spcPts val="0"/>
              </a:spcAft>
              <a:buSzPts val="1300"/>
              <a:buChar char="▪"/>
            </a:pPr>
            <a:r>
              <a:rPr lang="en-US" sz="1600" dirty="0"/>
              <a:t>MRI: 321 Features (</a:t>
            </a:r>
            <a:r>
              <a:rPr lang="en-US" sz="1400" dirty="0">
                <a:solidFill>
                  <a:srgbClr val="1B2430"/>
                </a:solidFill>
              </a:rPr>
              <a:t>Encoder 321 → 64 → 16)</a:t>
            </a:r>
            <a:endParaRPr sz="1600" dirty="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▪"/>
            </a:pPr>
            <a:r>
              <a:rPr lang="en-US" sz="1300" dirty="0"/>
              <a:t>Regional volume, area, and thickness</a:t>
            </a:r>
            <a:endParaRPr sz="1300" dirty="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▪"/>
            </a:pPr>
            <a:r>
              <a:rPr lang="en-US" sz="1300" dirty="0"/>
              <a:t>Volumes divided by head size</a:t>
            </a:r>
            <a:endParaRPr sz="1300"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▪"/>
            </a:pPr>
            <a:r>
              <a:rPr lang="en-US" sz="1600" dirty="0"/>
              <a:t>EEG: 26 Features (</a:t>
            </a:r>
            <a:r>
              <a:rPr lang="en-US" sz="1400" dirty="0">
                <a:solidFill>
                  <a:srgbClr val="1B2430"/>
                </a:solidFill>
              </a:rPr>
              <a:t>Encoder 26 → 32 → 16)</a:t>
            </a:r>
            <a:endParaRPr sz="1600" dirty="0"/>
          </a:p>
          <a:p>
            <a:pPr marL="914400" lvl="1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▪"/>
            </a:pPr>
            <a:r>
              <a:rPr lang="en-US" sz="1300" dirty="0"/>
              <a:t> Same processing for both datasets</a:t>
            </a:r>
            <a:endParaRPr sz="1300" dirty="0"/>
          </a:p>
          <a:p>
            <a:pPr marL="914400" lvl="1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▪"/>
            </a:pPr>
            <a:r>
              <a:rPr lang="en-US" sz="1300" dirty="0"/>
              <a:t>Relative </a:t>
            </a:r>
            <a:r>
              <a:rPr lang="en-US" sz="1300" dirty="0" err="1"/>
              <a:t>δ</a:t>
            </a:r>
            <a:r>
              <a:rPr lang="en-US" sz="1300" dirty="0"/>
              <a:t> </a:t>
            </a:r>
            <a:r>
              <a:rPr lang="en-US" sz="1300" dirty="0" err="1"/>
              <a:t>θ</a:t>
            </a:r>
            <a:r>
              <a:rPr lang="en-US" sz="1300" dirty="0"/>
              <a:t> α β power, </a:t>
            </a:r>
            <a:r>
              <a:rPr lang="en-US" sz="1300" dirty="0" err="1"/>
              <a:t>θ</a:t>
            </a:r>
            <a:r>
              <a:rPr lang="en-US" sz="1300" dirty="0"/>
              <a:t>/α ratio, peak alpha</a:t>
            </a:r>
            <a:endParaRPr sz="1300" dirty="0"/>
          </a:p>
          <a:p>
            <a:pPr marL="91440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 sz="1900" dirty="0"/>
          </a:p>
        </p:txBody>
      </p:sp>
      <p:graphicFrame>
        <p:nvGraphicFramePr>
          <p:cNvPr id="133" name="Google Shape;133;p19"/>
          <p:cNvGraphicFramePr/>
          <p:nvPr>
            <p:extLst>
              <p:ext uri="{D42A27DB-BD31-4B8C-83A1-F6EECF244321}">
                <p14:modId xmlns:p14="http://schemas.microsoft.com/office/powerpoint/2010/main" val="1236616323"/>
              </p:ext>
            </p:extLst>
          </p:nvPr>
        </p:nvGraphicFramePr>
        <p:xfrm>
          <a:off x="642003" y="2358625"/>
          <a:ext cx="7524550" cy="2070326"/>
        </p:xfrm>
        <a:graphic>
          <a:graphicData uri="http://schemas.openxmlformats.org/drawingml/2006/table">
            <a:tbl>
              <a:tblPr>
                <a:noFill/>
                <a:tableStyleId>{42C4A5EE-F6EB-4326-BD7F-E9A6B8B7439A}</a:tableStyleId>
              </a:tblPr>
              <a:tblGrid>
                <a:gridCol w="203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39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1B2430"/>
                          </a:solidFill>
                        </a:rPr>
                        <a:t>Models</a:t>
                      </a:r>
                      <a:endParaRPr sz="1100" b="1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CB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B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1B2430"/>
                          </a:solidFill>
                        </a:rPr>
                        <a:t>Logistic regression · Simple MLP · joint EEG–MRI model</a:t>
                      </a:r>
                      <a:endParaRPr sz="1100" b="1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CB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CB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B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9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EEG evaluation</a:t>
                      </a:r>
                      <a:endParaRPr sz="1100" dirty="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CB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B2430"/>
                          </a:solidFill>
                        </a:rPr>
                        <a:t>5-fold CV × 10 repeats, stratified by dataset and diagnosis; train on one EEG dataset, test on the other</a:t>
                      </a:r>
                      <a:endParaRPr sz="11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CB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9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B2430"/>
                          </a:solidFill>
                        </a:rPr>
                        <a:t>MRI evaluation</a:t>
                      </a:r>
                      <a:endParaRPr sz="11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B2430"/>
                          </a:solidFill>
                        </a:rPr>
                        <a:t>5-fold CV × 3 repeats</a:t>
                      </a:r>
                      <a:endParaRPr sz="11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Fair comparison</a:t>
                      </a:r>
                      <a:endParaRPr sz="1100" dirty="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AUC; same splits for every model; scaling fit on training folds only</a:t>
                      </a:r>
                      <a:endParaRPr sz="1100" dirty="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4" name="Google Shape;134;p19"/>
          <p:cNvSpPr txBox="1"/>
          <p:nvPr/>
        </p:nvSpPr>
        <p:spPr>
          <a:xfrm>
            <a:off x="555625" y="26988"/>
            <a:ext cx="5105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</a:rPr>
              <a:t>CROSS-AD</a:t>
            </a:r>
            <a:endParaRPr sz="600"/>
          </a:p>
        </p:txBody>
      </p:sp>
      <p:sp>
        <p:nvSpPr>
          <p:cNvPr id="135" name="Google Shape;135;p19"/>
          <p:cNvSpPr txBox="1"/>
          <p:nvPr/>
        </p:nvSpPr>
        <p:spPr>
          <a:xfrm>
            <a:off x="5424525" y="1025125"/>
            <a:ext cx="3431700" cy="11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dk1"/>
                </a:solidFill>
              </a:rPr>
              <a:t>Shared 16-d space: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One linear AD/CN head for both modalities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2430"/>
                </a:solidFill>
              </a:rPr>
              <a:t>A contrastive loss pulls EEG and MRI embeddings with the same label together. Labels only, no subject pairing; each person is predicted from their own modality.</a:t>
            </a:r>
            <a:endParaRPr sz="1100">
              <a:solidFill>
                <a:srgbClr val="1B243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cxnSp>
        <p:nvCxnSpPr>
          <p:cNvPr id="136" name="Google Shape;136;p19"/>
          <p:cNvCxnSpPr>
            <a:endCxn id="135" idx="1"/>
          </p:cNvCxnSpPr>
          <p:nvPr/>
        </p:nvCxnSpPr>
        <p:spPr>
          <a:xfrm>
            <a:off x="5049825" y="1619575"/>
            <a:ext cx="374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>
            <a:spLocks noGrp="1"/>
          </p:cNvSpPr>
          <p:nvPr>
            <p:ph type="title"/>
          </p:nvPr>
        </p:nvSpPr>
        <p:spPr>
          <a:xfrm>
            <a:off x="628650" y="361950"/>
            <a:ext cx="7886700" cy="841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Results: MRI ≈ 0.91 AUC, EEG ≈ 0.73 </a:t>
            </a:r>
            <a:endParaRPr/>
          </a:p>
        </p:txBody>
      </p:sp>
      <p:sp>
        <p:nvSpPr>
          <p:cNvPr id="143" name="Google Shape;143;p20"/>
          <p:cNvSpPr txBox="1"/>
          <p:nvPr/>
        </p:nvSpPr>
        <p:spPr>
          <a:xfrm>
            <a:off x="555625" y="26988"/>
            <a:ext cx="5105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</a:rPr>
              <a:t>CROSS-AD</a:t>
            </a:r>
            <a:endParaRPr sz="600"/>
          </a:p>
        </p:txBody>
      </p:sp>
      <p:graphicFrame>
        <p:nvGraphicFramePr>
          <p:cNvPr id="144" name="Google Shape;144;p20"/>
          <p:cNvGraphicFramePr/>
          <p:nvPr/>
        </p:nvGraphicFramePr>
        <p:xfrm>
          <a:off x="628650" y="1109900"/>
          <a:ext cx="7069450" cy="2906379"/>
        </p:xfrm>
        <a:graphic>
          <a:graphicData uri="http://schemas.openxmlformats.org/drawingml/2006/table">
            <a:tbl>
              <a:tblPr>
                <a:noFill/>
                <a:tableStyleId>{42C4A5EE-F6EB-4326-BD7F-E9A6B8B7439A}</a:tableStyleId>
              </a:tblPr>
              <a:tblGrid>
                <a:gridCol w="275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5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3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4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1B2430"/>
                          </a:solidFill>
                        </a:rPr>
                        <a:t>Task (AUC, mean over repeats)</a:t>
                      </a:r>
                      <a:endParaRPr sz="1000" b="1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CB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B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1B2430"/>
                          </a:solidFill>
                        </a:rPr>
                        <a:t>Logistic reg.</a:t>
                      </a:r>
                      <a:endParaRPr sz="1000" b="1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CB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CB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B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1B2430"/>
                          </a:solidFill>
                        </a:rPr>
                        <a:t>Network</a:t>
                      </a:r>
                      <a:endParaRPr sz="1000" b="1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CB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CB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B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1B2430"/>
                          </a:solidFill>
                        </a:rPr>
                        <a:t>Joint EEG+MRI</a:t>
                      </a:r>
                      <a:endParaRPr sz="1000" b="1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CB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CB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B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B2430"/>
                          </a:solidFill>
                        </a:rPr>
                        <a:t>EEG, both datasets (n = 132)</a:t>
                      </a:r>
                      <a:endParaRPr sz="10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CB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B2430"/>
                          </a:solidFill>
                        </a:rPr>
                        <a:t>0.728</a:t>
                      </a:r>
                      <a:endParaRPr sz="10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CB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B2430"/>
                          </a:solidFill>
                        </a:rPr>
                        <a:t>0.691</a:t>
                      </a:r>
                      <a:endParaRPr sz="10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CB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B2430"/>
                          </a:solidFill>
                        </a:rPr>
                        <a:t>0.725</a:t>
                      </a:r>
                      <a:endParaRPr sz="10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CB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B2430"/>
                          </a:solidFill>
                        </a:rPr>
                        <a:t>EEG, within ds004504 (65)</a:t>
                      </a:r>
                      <a:endParaRPr sz="10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B2430"/>
                          </a:solidFill>
                        </a:rPr>
                        <a:t>0.798</a:t>
                      </a:r>
                      <a:endParaRPr sz="10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B2430"/>
                          </a:solidFill>
                        </a:rPr>
                        <a:t>0.774</a:t>
                      </a:r>
                      <a:endParaRPr sz="10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B2430"/>
                          </a:solidFill>
                        </a:rPr>
                        <a:t>0.804</a:t>
                      </a:r>
                      <a:endParaRPr sz="10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B2430"/>
                          </a:solidFill>
                        </a:rPr>
                        <a:t>EEG, within BrainLat (67)</a:t>
                      </a:r>
                      <a:endParaRPr sz="10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B2430"/>
                          </a:solidFill>
                        </a:rPr>
                        <a:t>0.653</a:t>
                      </a:r>
                      <a:endParaRPr sz="10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B2430"/>
                          </a:solidFill>
                        </a:rPr>
                        <a:t>0.613</a:t>
                      </a:r>
                      <a:endParaRPr sz="10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B2430"/>
                          </a:solidFill>
                        </a:rPr>
                        <a:t>0.645</a:t>
                      </a:r>
                      <a:endParaRPr sz="10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B2430"/>
                          </a:solidFill>
                        </a:rPr>
                        <a:t>EEG, BrainLat → ds004504</a:t>
                      </a:r>
                      <a:endParaRPr sz="10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B2430"/>
                          </a:solidFill>
                        </a:rPr>
                        <a:t>0.788</a:t>
                      </a:r>
                      <a:endParaRPr sz="10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B2430"/>
                          </a:solidFill>
                        </a:rPr>
                        <a:t>0.751</a:t>
                      </a:r>
                      <a:endParaRPr sz="10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B2430"/>
                          </a:solidFill>
                        </a:rPr>
                        <a:t>0.792</a:t>
                      </a:r>
                      <a:endParaRPr sz="10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B2430"/>
                          </a:solidFill>
                        </a:rPr>
                        <a:t>EEG, ds004504 → BrainLat</a:t>
                      </a:r>
                      <a:endParaRPr sz="10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B2430"/>
                          </a:solidFill>
                        </a:rPr>
                        <a:t>0.730</a:t>
                      </a:r>
                      <a:endParaRPr sz="10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B2430"/>
                          </a:solidFill>
                        </a:rPr>
                        <a:t>0.697</a:t>
                      </a:r>
                      <a:endParaRPr sz="10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B2430"/>
                          </a:solidFill>
                        </a:rPr>
                        <a:t>0.722</a:t>
                      </a:r>
                      <a:endParaRPr sz="10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B2430"/>
                          </a:solidFill>
                        </a:rPr>
                        <a:t>MRI, ADNI (n = 870)</a:t>
                      </a:r>
                      <a:endParaRPr sz="10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B2430"/>
                          </a:solidFill>
                        </a:rPr>
                        <a:t>0.869</a:t>
                      </a:r>
                      <a:endParaRPr sz="10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B2430"/>
                          </a:solidFill>
                        </a:rPr>
                        <a:t>0.912</a:t>
                      </a:r>
                      <a:endParaRPr sz="10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7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B2430"/>
                          </a:solidFill>
                        </a:rPr>
                        <a:t>0.913</a:t>
                      </a:r>
                      <a:endParaRPr sz="1000">
                        <a:solidFill>
                          <a:srgbClr val="1B243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3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>
            <a:spLocks noGrp="1"/>
          </p:cNvSpPr>
          <p:nvPr>
            <p:ph type="title"/>
          </p:nvPr>
        </p:nvSpPr>
        <p:spPr>
          <a:xfrm>
            <a:off x="628650" y="361950"/>
            <a:ext cx="7886700" cy="841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Does Unpaired MRI help EEG?</a:t>
            </a:r>
            <a:endParaRPr/>
          </a:p>
        </p:txBody>
      </p:sp>
      <p:pic>
        <p:nvPicPr>
          <p:cNvPr id="151" name="Google Shape;15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1352549"/>
            <a:ext cx="5265875" cy="239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1"/>
          <p:cNvSpPr txBox="1"/>
          <p:nvPr/>
        </p:nvSpPr>
        <p:spPr>
          <a:xfrm>
            <a:off x="628650" y="3829950"/>
            <a:ext cx="7817100" cy="6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845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B2430"/>
                </a:solidFill>
              </a:rPr>
              <a:t>The contrastive loss keeps a small network from overfitting; shuffled or age/sex labels do the same job. A controlled negative result, as our proposal anticipated.</a:t>
            </a:r>
            <a:endParaRPr sz="1200">
              <a:solidFill>
                <a:srgbClr val="1B243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</a:endParaRPr>
          </a:p>
        </p:txBody>
      </p:sp>
      <p:sp>
        <p:nvSpPr>
          <p:cNvPr id="153" name="Google Shape;153;p21"/>
          <p:cNvSpPr txBox="1"/>
          <p:nvPr/>
        </p:nvSpPr>
        <p:spPr>
          <a:xfrm>
            <a:off x="6014200" y="1810250"/>
            <a:ext cx="2857500" cy="18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84545"/>
              </a:lnSpc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100"/>
              <a:buChar char="●"/>
            </a:pPr>
            <a:r>
              <a:rPr lang="en-US" sz="1100" b="1">
                <a:solidFill>
                  <a:srgbClr val="1B2430"/>
                </a:solidFill>
              </a:rPr>
              <a:t>+0.034</a:t>
            </a:r>
            <a:r>
              <a:rPr lang="en-US" sz="1100">
                <a:solidFill>
                  <a:srgbClr val="1B2430"/>
                </a:solidFill>
              </a:rPr>
              <a:t> vs EEG-only network </a:t>
            </a:r>
            <a:endParaRPr sz="1100">
              <a:solidFill>
                <a:srgbClr val="1B2430"/>
              </a:solidFill>
            </a:endParaRPr>
          </a:p>
          <a:p>
            <a:pPr marL="457200" lvl="0" indent="-298450" algn="l" rtl="0">
              <a:lnSpc>
                <a:spcPct val="184545"/>
              </a:lnSpc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100"/>
              <a:buChar char="●"/>
            </a:pPr>
            <a:r>
              <a:rPr lang="en-US" sz="1100" b="1">
                <a:solidFill>
                  <a:srgbClr val="1B2430"/>
                </a:solidFill>
              </a:rPr>
              <a:t>+0.009</a:t>
            </a:r>
            <a:r>
              <a:rPr lang="en-US" sz="1100">
                <a:solidFill>
                  <a:srgbClr val="1B2430"/>
                </a:solidFill>
              </a:rPr>
              <a:t> vs MRI labels shuffled</a:t>
            </a:r>
            <a:endParaRPr sz="1100">
              <a:solidFill>
                <a:srgbClr val="1B2430"/>
              </a:solidFill>
            </a:endParaRPr>
          </a:p>
          <a:p>
            <a:pPr marL="457200" lvl="0" indent="-298450" algn="l" rtl="0">
              <a:lnSpc>
                <a:spcPct val="184545"/>
              </a:lnSpc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100"/>
              <a:buChar char="●"/>
            </a:pPr>
            <a:r>
              <a:rPr lang="en-US" sz="1100" b="1">
                <a:solidFill>
                  <a:srgbClr val="1B2430"/>
                </a:solidFill>
              </a:rPr>
              <a:t>−0.012</a:t>
            </a:r>
            <a:r>
              <a:rPr lang="en-US" sz="1100">
                <a:solidFill>
                  <a:srgbClr val="1B2430"/>
                </a:solidFill>
              </a:rPr>
              <a:t> vs age/sex instead of MRI </a:t>
            </a:r>
            <a:endParaRPr sz="1100">
              <a:solidFill>
                <a:srgbClr val="1B2430"/>
              </a:solidFill>
            </a:endParaRPr>
          </a:p>
          <a:p>
            <a:pPr marL="457200" lvl="0" indent="-298450" algn="l" rtl="0">
              <a:lnSpc>
                <a:spcPct val="184545"/>
              </a:lnSpc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100"/>
              <a:buChar char="●"/>
            </a:pPr>
            <a:r>
              <a:rPr lang="en-US" sz="1100" b="1">
                <a:solidFill>
                  <a:srgbClr val="1B2430"/>
                </a:solidFill>
              </a:rPr>
              <a:t>−0.002</a:t>
            </a:r>
            <a:r>
              <a:rPr lang="en-US" sz="1100">
                <a:solidFill>
                  <a:srgbClr val="1B2430"/>
                </a:solidFill>
              </a:rPr>
              <a:t> vs logistic regression</a:t>
            </a:r>
            <a:endParaRPr sz="1100">
              <a:solidFill>
                <a:srgbClr val="1B243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154" name="Google Shape;154;p21"/>
          <p:cNvSpPr txBox="1"/>
          <p:nvPr/>
        </p:nvSpPr>
        <p:spPr>
          <a:xfrm>
            <a:off x="555625" y="26988"/>
            <a:ext cx="5105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</a:rPr>
              <a:t>CROSS-AD</a:t>
            </a:r>
            <a:endParaRPr sz="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>
            <a:spLocks noGrp="1"/>
          </p:cNvSpPr>
          <p:nvPr>
            <p:ph type="title"/>
          </p:nvPr>
        </p:nvSpPr>
        <p:spPr>
          <a:xfrm>
            <a:off x="628650" y="361950"/>
            <a:ext cx="7886700" cy="841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Next Steps</a:t>
            </a:r>
            <a:endParaRPr/>
          </a:p>
        </p:txBody>
      </p:sp>
      <p:sp>
        <p:nvSpPr>
          <p:cNvPr id="161" name="Google Shape;161;p22"/>
          <p:cNvSpPr txBox="1">
            <a:spLocks noGrp="1"/>
          </p:cNvSpPr>
          <p:nvPr>
            <p:ph type="body" idx="1"/>
          </p:nvPr>
        </p:nvSpPr>
        <p:spPr>
          <a:xfrm>
            <a:off x="628650" y="1352550"/>
            <a:ext cx="7886700" cy="266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spcBef>
                <a:spcPts val="75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More complicated model to capture biological explainibility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Nested-CV tuning and feature importance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EEG connectivity and global-only features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Paired EEG, MRI data of same cohort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Test the model on another dataset to check its generality</a:t>
            </a:r>
            <a:endParaRPr/>
          </a:p>
          <a:p>
            <a:pPr marL="45720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2"/>
          <p:cNvSpPr txBox="1"/>
          <p:nvPr/>
        </p:nvSpPr>
        <p:spPr>
          <a:xfrm>
            <a:off x="555625" y="26988"/>
            <a:ext cx="5105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</a:rPr>
              <a:t>CROSS-AD</a:t>
            </a:r>
            <a:endParaRPr sz="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>
            <a:spLocks noGrp="1"/>
          </p:cNvSpPr>
          <p:nvPr>
            <p:ph type="title"/>
          </p:nvPr>
        </p:nvSpPr>
        <p:spPr>
          <a:xfrm>
            <a:off x="628650" y="361950"/>
            <a:ext cx="7886700" cy="841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 You!</a:t>
            </a:r>
            <a:endParaRPr/>
          </a:p>
        </p:txBody>
      </p:sp>
      <p:sp>
        <p:nvSpPr>
          <p:cNvPr id="169" name="Google Shape;169;p23"/>
          <p:cNvSpPr txBox="1">
            <a:spLocks noGrp="1"/>
          </p:cNvSpPr>
          <p:nvPr>
            <p:ph type="body" idx="1"/>
          </p:nvPr>
        </p:nvSpPr>
        <p:spPr>
          <a:xfrm>
            <a:off x="628650" y="1352550"/>
            <a:ext cx="7886700" cy="266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23"/>
          <p:cNvSpPr txBox="1"/>
          <p:nvPr/>
        </p:nvSpPr>
        <p:spPr>
          <a:xfrm>
            <a:off x="555625" y="26988"/>
            <a:ext cx="5105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</a:rPr>
              <a:t>CROSS-AD</a:t>
            </a:r>
            <a:endParaRPr sz="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761</Words>
  <Application>Microsoft Macintosh PowerPoint</Application>
  <PresentationFormat>On-screen Show (16:9)</PresentationFormat>
  <Paragraphs>135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Noto Sans Symbols</vt:lpstr>
      <vt:lpstr>Arial</vt:lpstr>
      <vt:lpstr>Blank Presentation</vt:lpstr>
      <vt:lpstr>CROSS-AD: Two-Channel EEG-MRI Learning for Explainable Alzheimer’s Disease Prediction</vt:lpstr>
      <vt:lpstr>Why Early Prediction of Alzheimer’s Disease Matters </vt:lpstr>
      <vt:lpstr>Two Views of AD</vt:lpstr>
      <vt:lpstr>Where are we now?</vt:lpstr>
      <vt:lpstr>Data Overview</vt:lpstr>
      <vt:lpstr>MRI: ADNI Structural Measures</vt:lpstr>
      <vt:lpstr>EEG: BrainLat and OpenNeuro </vt:lpstr>
      <vt:lpstr>Features, Models, and Evaluation</vt:lpstr>
      <vt:lpstr>Results: MRI ≈ 0.91 AUC, EEG ≈ 0.73 </vt:lpstr>
      <vt:lpstr>Does Unpaired MRI help EEG?</vt:lpstr>
      <vt:lpstr>Next Steps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Guo, Runkun</cp:lastModifiedBy>
  <cp:revision>1</cp:revision>
  <dcterms:modified xsi:type="dcterms:W3CDTF">2026-10-23T18:39:07Z</dcterms:modified>
</cp:coreProperties>
</file>